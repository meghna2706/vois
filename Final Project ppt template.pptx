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45" r:id="rId10"/>
    <p:sldId id="346" r:id="rId11"/>
    <p:sldId id="347" r:id="rId12"/>
    <p:sldId id="348" r:id="rId13"/>
    <p:sldId id="339" r:id="rId14"/>
    <p:sldId id="340" r:id="rId15"/>
    <p:sldId id="341" r:id="rId16"/>
    <p:sldId id="342" r:id="rId17"/>
    <p:sldId id="343" r:id="rId18"/>
    <p:sldId id="344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494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aocVuO_f5CncCalJPNEzdyq3KTrwSnY/view?usp=drive_link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aocVuO_f5CncCalJPNEzdyq3KTrwSnY/view?usp=drive_link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aocVuO_f5CncCalJPNEzdyq3KTrwSnY/view?usp=drive_link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aocVuO_f5CncCalJPNEzdyq3KTrwSnY/view?usp=drive_link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aocVuO_f5CncCalJPNEzdyq3KTrwSnY/view?usp=drive_link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aocVuO_f5CncCalJPNEzdyq3KTrwSnY/view?usp=drive_link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me-27/AI_NIDS_PROJECT/tree/main" TargetMode="External"/><Relationship Id="rId2" Type="http://schemas.openxmlformats.org/officeDocument/2006/relationships/hyperlink" Target="https://github.com/Meghna2706/VOIS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9860" y="4110153"/>
            <a:ext cx="4150658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Student Name: Subramani Meghna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22" y="2691454"/>
            <a:ext cx="10406156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US" sz="3200" dirty="0"/>
              <a:t>AI-Based Network Intrusion Detection System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5147731" y="4584994"/>
            <a:ext cx="5524452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AICTE ID : APPLY_176426115269287d2037e12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6376" y="2158243"/>
            <a:ext cx="7389308" cy="45963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Modern computer networks generate a massive volume of traffic every second. </a:t>
            </a:r>
          </a:p>
          <a:p>
            <a:pPr marL="0" indent="0">
              <a:buNone/>
            </a:pPr>
            <a:r>
              <a:rPr lang="en-US" sz="1600" dirty="0"/>
              <a:t>Traditional security systems such as firewalls and intrusion detection systems(IDS) fail to detect </a:t>
            </a:r>
            <a:r>
              <a:rPr lang="en-US" sz="1600" b="1" dirty="0"/>
              <a:t>new and evolving cyber-attacks</a:t>
            </a:r>
            <a:r>
              <a:rPr lang="en-US" sz="1600" dirty="0"/>
              <a:t> like DDoS(Distributed Denial of Service), port scanning, and web-based attacks.</a:t>
            </a:r>
          </a:p>
          <a:p>
            <a:pPr marL="0" indent="0">
              <a:buNone/>
            </a:pPr>
            <a:r>
              <a:rPr lang="en-US" sz="1600" dirty="0"/>
              <a:t>Therefore, there is a need for an </a:t>
            </a:r>
            <a:r>
              <a:rPr lang="en-US" sz="1600" b="1" dirty="0"/>
              <a:t>intelligent, adaptive, and data-driven Network Intrusion Detection System (NIDS)</a:t>
            </a:r>
            <a:r>
              <a:rPr lang="en-US" sz="1600" dirty="0"/>
              <a:t> that can analyze network traffic patterns in real time.</a:t>
            </a:r>
            <a:endParaRPr lang="en-IN" sz="11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29488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28833B-4495-DBFC-D3F7-B57FE0E7AE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227" y="1398270"/>
            <a:ext cx="10189267" cy="4596364"/>
          </a:xfrm>
        </p:spPr>
        <p:txBody>
          <a:bodyPr>
            <a:noAutofit/>
          </a:bodyPr>
          <a:lstStyle/>
          <a:p>
            <a:r>
              <a:rPr lang="en-US" sz="1600" dirty="0"/>
              <a:t>The system uses the </a:t>
            </a:r>
            <a:r>
              <a:rPr lang="en-US" sz="1600" b="1" dirty="0"/>
              <a:t>Random Forest classification algorithm</a:t>
            </a:r>
            <a:r>
              <a:rPr lang="en-US" sz="1600" dirty="0"/>
              <a:t> to analyze network traffic features and classify them into: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b="1" dirty="0"/>
              <a:t>Benign Traffic (Normal)</a:t>
            </a:r>
            <a:endParaRPr lang="en-US" sz="1600" dirty="0"/>
          </a:p>
          <a:p>
            <a:pPr marL="400050" indent="-400050">
              <a:buFont typeface="+mj-lt"/>
              <a:buAutoNum type="romanUcPeriod"/>
            </a:pPr>
            <a:r>
              <a:rPr lang="en-US" sz="1600" b="1" dirty="0"/>
              <a:t>Malicious Traffic (Attack)</a:t>
            </a:r>
            <a:endParaRPr lang="en-US" sz="1600" dirty="0"/>
          </a:p>
          <a:p>
            <a:r>
              <a:rPr lang="en-US" sz="1600" dirty="0"/>
              <a:t>An interactive </a:t>
            </a:r>
            <a:r>
              <a:rPr lang="en-US" sz="1600" b="1" dirty="0" err="1"/>
              <a:t>Streamlit</a:t>
            </a:r>
            <a:r>
              <a:rPr lang="en-US" sz="1600" b="1" dirty="0"/>
              <a:t> dashboard</a:t>
            </a:r>
            <a:r>
              <a:rPr lang="en-US" sz="1600" dirty="0"/>
              <a:t> is developed to visualize results, simulate live traffic, and explain attack detection using both </a:t>
            </a:r>
            <a:r>
              <a:rPr lang="en-US" sz="1600" b="1" dirty="0"/>
              <a:t>rule-based logic</a:t>
            </a:r>
            <a:r>
              <a:rPr lang="en-US" sz="1600" dirty="0"/>
              <a:t> and </a:t>
            </a:r>
            <a:r>
              <a:rPr lang="en-US" sz="1600" b="1" dirty="0" err="1"/>
              <a:t>Groq</a:t>
            </a:r>
            <a:r>
              <a:rPr lang="en-US" sz="1600" b="1" dirty="0"/>
              <a:t> AI explanations</a:t>
            </a:r>
            <a:r>
              <a:rPr lang="en-US" sz="1600" dirty="0"/>
              <a:t>.</a:t>
            </a:r>
          </a:p>
          <a:p>
            <a:r>
              <a:rPr lang="en-US" sz="1600" dirty="0"/>
              <a:t>The model analyzes important network traffic attributes such as: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Destination Port</a:t>
            </a: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Flow Duration (</a:t>
            </a:r>
            <a:r>
              <a:rPr lang="en-US" sz="1600" b="1" dirty="0" err="1"/>
              <a:t>ms</a:t>
            </a:r>
            <a:r>
              <a:rPr lang="en-US" sz="1600" b="1" dirty="0"/>
              <a:t>)</a:t>
            </a: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Total Forward Packets</a:t>
            </a: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Packet Length Mean</a:t>
            </a: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Active Mean Time</a:t>
            </a:r>
            <a:endParaRPr lang="en-US" sz="1600" dirty="0"/>
          </a:p>
          <a:p>
            <a:r>
              <a:rPr lang="en-US" sz="1600" dirty="0"/>
              <a:t>These features help identify abnormal patterns commonly associated with cyber-attacks.</a:t>
            </a:r>
          </a:p>
          <a:p>
            <a:pPr marL="0" indent="0">
              <a:buNone/>
            </a:pPr>
            <a:endParaRPr lang="en-US" sz="1600" dirty="0"/>
          </a:p>
          <a:p>
            <a:pPr>
              <a:lnSpc>
                <a:spcPct val="150000"/>
              </a:lnSpc>
            </a:pP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85DCE1E3-0025-EE6F-E493-B51941057E11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0725" y="2482107"/>
            <a:ext cx="8969122" cy="189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Network Administrators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People who manage and protect computer networks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Cyber Security Analysts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Experts who study and investigate cyber-attacks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Security Teams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Teams that watch the system and stop threats early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Educational Institutions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Used by colleges and universities for learning cyber security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Small &amp; Medium Enterprises (SMEs)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Small companies that need affordable network security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2F9716-1E2C-B891-24C0-5916A6504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379102"/>
              </p:ext>
            </p:extLst>
          </p:nvPr>
        </p:nvGraphicFramePr>
        <p:xfrm>
          <a:off x="1526986" y="1887983"/>
          <a:ext cx="8612096" cy="3505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06048">
                  <a:extLst>
                    <a:ext uri="{9D8B030D-6E8A-4147-A177-3AD203B41FA5}">
                      <a16:colId xmlns:a16="http://schemas.microsoft.com/office/drawing/2014/main" val="1801534769"/>
                    </a:ext>
                  </a:extLst>
                </a:gridCol>
                <a:gridCol w="4306048">
                  <a:extLst>
                    <a:ext uri="{9D8B030D-6E8A-4147-A177-3AD203B41FA5}">
                      <a16:colId xmlns:a16="http://schemas.microsoft.com/office/drawing/2014/main" val="40833987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384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Programming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634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Random Forest Classifier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304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Libraries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Pandas, NumPy, Scikit-learn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181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Visualization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Matplotlib, Seaborn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494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Web 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Streamlit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535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CIC-IDS2017 (CSV format) – </a:t>
                      </a:r>
                    </a:p>
                    <a:p>
                      <a:pPr>
                        <a:buNone/>
                      </a:pPr>
                      <a:r>
                        <a:rPr lang="en-IN" sz="1600" dirty="0"/>
                        <a:t>Thursday-WorkingHours-Morning-WebAttacks.pcap_ISCX.csv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974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IDE /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946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AI 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Groq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530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F067C-CAB1-3188-E0F6-4251BBC3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EA50C8-5778-D6A3-E2AA-7ACA407F53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864C61-8D37-EB28-D63F-BE7636CE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05A6528-FC72-ABC7-44E3-01E2D69BED1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6539F21-4CAA-ED82-D4D9-9D15CB540FD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A64D003-C399-32C5-C55C-5953F0C3615F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A3EB7EB-EED3-DF69-42B8-ED5EAF6D39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7432DBCB-7A79-E25C-FBDC-D6692D3EB387}"/>
              </a:ext>
            </a:extLst>
          </p:cNvPr>
          <p:cNvSpPr txBox="1">
            <a:spLocks/>
          </p:cNvSpPr>
          <p:nvPr/>
        </p:nvSpPr>
        <p:spPr>
          <a:xfrm>
            <a:off x="575359" y="58898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7FAC0-B80E-A6E9-F95E-C0A06AB3E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64" y="1201586"/>
            <a:ext cx="9671711" cy="39410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099CC0-9E0D-A3AC-6F45-28A1691B9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1310"/>
          <a:stretch>
            <a:fillRect/>
          </a:stretch>
        </p:blipFill>
        <p:spPr>
          <a:xfrm>
            <a:off x="807163" y="4893433"/>
            <a:ext cx="9671711" cy="12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4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DE492-2F86-0171-F5E1-67628A46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366892-D319-6CAF-8D16-796EDE1C71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93C3CC-B2B7-3515-6282-7B660A4E6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049A342-80DB-D226-02D6-ED6A955BE8C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A9693A8-34A3-C824-C6C7-D6CB4E410F0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6C4CC21-DD7B-C8DB-693F-5104516A4D6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3DC0ADF-5475-E305-2862-C39A05983E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E26233-04CA-BA41-B317-D298E12C7E3C}"/>
              </a:ext>
            </a:extLst>
          </p:cNvPr>
          <p:cNvSpPr txBox="1">
            <a:spLocks/>
          </p:cNvSpPr>
          <p:nvPr/>
        </p:nvSpPr>
        <p:spPr>
          <a:xfrm>
            <a:off x="575359" y="58898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C1068-B298-6ACB-903A-C99D4D048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59" y="1266270"/>
            <a:ext cx="10327341" cy="452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6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E297A-8F68-50E7-B5D3-447C0328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78B63-A517-38B6-7D56-F4E87C67D6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845F1A0-9678-8406-A37A-94857EBD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88F1F7A-5227-47D6-1D61-61279B09453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27DFD9D-B97B-4F11-F029-42FF2E6AA03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29F5534-8632-0446-5A51-1047A30C0088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8DD4E73-F835-B2C1-AC82-B33D7FDFDA2B}"/>
              </a:ext>
            </a:extLst>
          </p:cNvPr>
          <p:cNvSpPr txBox="1">
            <a:spLocks/>
          </p:cNvSpPr>
          <p:nvPr/>
        </p:nvSpPr>
        <p:spPr>
          <a:xfrm>
            <a:off x="575359" y="58898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D40A7B-80E8-88C1-7715-9A075384F9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4"/>
          <a:stretch>
            <a:fillRect/>
          </a:stretch>
        </p:blipFill>
        <p:spPr>
          <a:xfrm>
            <a:off x="869575" y="1353985"/>
            <a:ext cx="9968753" cy="453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39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920B7-491D-F119-B9A4-F7CA102B3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FCD085-DADB-0719-BC1D-6D9174BA43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2127A39-183D-EDED-4A6E-3854B225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974D109-2C64-8399-5FBA-8FFFC3C4286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2D4AB09-58A6-103C-0EAE-04EB6362E79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E0E6E9A-2B05-4FF8-5983-A64A5D6064D9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90465AB-D6F8-D15C-88E8-FEF3B557975C}"/>
              </a:ext>
            </a:extLst>
          </p:cNvPr>
          <p:cNvSpPr txBox="1">
            <a:spLocks/>
          </p:cNvSpPr>
          <p:nvPr/>
        </p:nvSpPr>
        <p:spPr>
          <a:xfrm>
            <a:off x="575359" y="58898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8A9CCB-1EBA-535D-C15F-2FF2C0ABBE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29"/>
          <a:stretch>
            <a:fillRect/>
          </a:stretch>
        </p:blipFill>
        <p:spPr>
          <a:xfrm>
            <a:off x="675957" y="1201586"/>
            <a:ext cx="10504330" cy="489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1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B476D-C880-3E09-3842-2619AB4177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E25C5DDC-86B2-2339-87D7-F55F89CDDDED}"/>
              </a:ext>
            </a:extLst>
          </p:cNvPr>
          <p:cNvSpPr txBox="1">
            <a:spLocks/>
          </p:cNvSpPr>
          <p:nvPr/>
        </p:nvSpPr>
        <p:spPr>
          <a:xfrm>
            <a:off x="575359" y="58898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987579-FAAD-8DC5-BC96-0E7DE3FFD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4" y="1556258"/>
            <a:ext cx="4338267" cy="44788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63D18B-4696-94C5-9584-C055EB4C8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001" y="1556258"/>
            <a:ext cx="3953405" cy="44788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D51C9F-C5D7-C9C8-9DA7-9545AB66E4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0406" y="1556258"/>
            <a:ext cx="3662271" cy="447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3B440F-7A40-832D-70BE-CAF7B9615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49" y="1201586"/>
            <a:ext cx="3669458" cy="45358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C89A2D-D663-0F2C-0B23-D6E613023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607" y="1201586"/>
            <a:ext cx="4158875" cy="45435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16D640-AEB3-339D-33AC-D4B6D2F46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5482" y="2034989"/>
            <a:ext cx="4009369" cy="273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2050" name="Picture 2" descr="No alternative text description for this image">
            <a:extLst>
              <a:ext uri="{FF2B5EF4-FFF2-40B4-BE49-F238E27FC236}">
                <a16:creationId xmlns:a16="http://schemas.microsoft.com/office/drawing/2014/main" id="{468A2C32-7C3F-86F7-3C04-092CB5EC0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354" y="1362636"/>
            <a:ext cx="6781340" cy="4797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1028" name="Picture 4" descr="No alternative text description for this image">
            <a:extLst>
              <a:ext uri="{FF2B5EF4-FFF2-40B4-BE49-F238E27FC236}">
                <a16:creationId xmlns:a16="http://schemas.microsoft.com/office/drawing/2014/main" id="{34CAFB62-ECD4-0417-01E3-B3A421412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647" y="1396510"/>
            <a:ext cx="6893606" cy="485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Securing Android Devices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08FA8D-DE35-7DF6-FAE4-A7F2A2397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42" y="1436048"/>
            <a:ext cx="6832470" cy="482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4FFBE-806E-EA5E-D477-F481A0C38677}"/>
              </a:ext>
            </a:extLst>
          </p:cNvPr>
          <p:cNvSpPr txBox="1"/>
          <p:nvPr/>
        </p:nvSpPr>
        <p:spPr>
          <a:xfrm>
            <a:off x="448235" y="2551837"/>
            <a:ext cx="102914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 link: </a:t>
            </a:r>
            <a:r>
              <a:rPr lang="en-IN" dirty="0">
                <a:hlinkClick r:id="rId2"/>
              </a:rPr>
              <a:t>https://github.com/Meghna2706/VOIS</a:t>
            </a:r>
            <a:endParaRPr lang="en-IN" dirty="0"/>
          </a:p>
          <a:p>
            <a:endParaRPr lang="en-IN" dirty="0"/>
          </a:p>
          <a:p>
            <a:r>
              <a:rPr lang="en-IN" dirty="0"/>
              <a:t>Hugging Face link: </a:t>
            </a:r>
            <a:r>
              <a:rPr lang="en-IN" dirty="0">
                <a:hlinkClick r:id="rId3"/>
              </a:rPr>
              <a:t>https://huggingface.co/spaces/me-27/AI_NIDS_PROJECT/tree/main</a:t>
            </a:r>
            <a:endParaRPr lang="en-IN" dirty="0"/>
          </a:p>
          <a:p>
            <a:endParaRPr lang="en-IN" dirty="0"/>
          </a:p>
          <a:p>
            <a:r>
              <a:rPr lang="en-IN" dirty="0"/>
              <a:t>Demo: https://drive.google.com/file/d/1DaocVuO_f5CncCalJPNEzdyq3KTrwSnY/view?usp=drive_link</a:t>
            </a:r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documentManagement/types"/>
    <ds:schemaRef ds:uri="http://purl.org/dc/elements/1.1/"/>
    <ds:schemaRef ds:uri="71af3243-3dd4-4a8d-8c0d-dd76da1f02a5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1117</TotalTime>
  <Words>441</Words>
  <Application>Microsoft Office PowerPoint</Application>
  <PresentationFormat>Widescreen</PresentationFormat>
  <Paragraphs>74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Project Title - AI-Based Network Intrusion Detection System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Meghna Subramani</cp:lastModifiedBy>
  <cp:revision>83</cp:revision>
  <dcterms:created xsi:type="dcterms:W3CDTF">2021-07-11T13:13:15Z</dcterms:created>
  <dcterms:modified xsi:type="dcterms:W3CDTF">2026-01-06T15:08:48Z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